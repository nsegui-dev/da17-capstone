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44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Permits per 1,000 residents</c:v>
                </c:pt>
              </c:strCache>
            </c:strRef>
          </c:tx>
          <c:spPr>
            <a:solidFill>
              <a:srgbClr val="C87F3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142-4C34-8180-242676D85AD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142-4C34-8180-242676D85AD3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142-4C34-8180-242676D85AD3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E142-4C34-8180-242676D85AD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Maury</c:v>
                </c:pt>
                <c:pt idx="1">
                  <c:v>Rutherford</c:v>
                </c:pt>
                <c:pt idx="2">
                  <c:v>Sumner</c:v>
                </c:pt>
                <c:pt idx="3">
                  <c:v>Williamson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13.2</c:v>
                </c:pt>
                <c:pt idx="1">
                  <c:v>9.3000000000000007</c:v>
                </c:pt>
                <c:pt idx="2">
                  <c:v>8</c:v>
                </c:pt>
                <c:pt idx="3">
                  <c:v>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142-4C34-8180-242676D85AD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FBDD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406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FBDD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D33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E1D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E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57400"/>
            <a:ext cx="5669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E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7F3C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8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erial view of a new residential subdivision under construction"/>
          <p:cNvPicPr>
            <a:picLocks noChangeAspect="1"/>
          </p:cNvPicPr>
          <p:nvPr/>
        </p:nvPicPr>
        <p:blipFill>
          <a:blip r:embed="rId3"/>
          <a:srcRect l="29852" r="29852"/>
          <a:stretch/>
        </p:blipFill>
        <p:spPr>
          <a:xfrm>
            <a:off x="6035040" y="0"/>
            <a:ext cx="3108960" cy="5143500"/>
          </a:xfrm>
          <a:prstGeom prst="rect">
            <a:avLst/>
          </a:prstGeom>
        </p:spPr>
      </p:pic>
      <p:sp>
        <p:nvSpPr>
          <p:cNvPr id="3" name="divi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0"/>
            <a:ext cx="45720" cy="514350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66"/>
                </a:solidFill>
              </a:rPr>
              <a:t>CAPSTONE ANALYSIS  |  2020–2025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57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Residential Construction in Middle Tennessee</a:t>
            </a:r>
            <a:endParaRPr lang="en-US" sz="3400" dirty="0"/>
          </a:p>
        </p:txBody>
      </p:sp>
      <p:sp>
        <p:nvSpPr>
          <p:cNvPr id="6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611880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38404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AFBDD1"/>
                </a:solidFill>
              </a:rPr>
              <a:t>Growth drivers, price appreciation, permit supply, and where to build next across Davidson, Williamson, Rutherford, Sumner, and Maury counties.</a:t>
            </a:r>
            <a:endParaRPr lang="en-US" sz="1250" dirty="0"/>
          </a:p>
        </p:txBody>
      </p:sp>
      <p:sp>
        <p:nvSpPr>
          <p:cNvPr id="8" name="Byline"/>
          <p:cNvSpPr/>
          <p:nvPr/>
        </p:nvSpPr>
        <p:spPr>
          <a:xfrm>
            <a:off x="548640" y="4754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spc="120">
                <a:solidFill>
                  <a:srgbClr val="E0A566"/>
                </a:solidFill>
              </a:rPr>
              <a:t>by Nick Segui</a:t>
            </a:r>
            <a:endParaRPr lang="en-US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Drivers of Growth</a:t>
            </a:r>
            <a:endParaRPr lang="en-US" sz="2400" dirty="0"/>
          </a:p>
        </p:txBody>
      </p:sp>
      <p:sp>
        <p:nvSpPr>
          <p:cNvPr id="3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932688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1234440"/>
            <a:ext cx="2615184" cy="310896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1234440"/>
            <a:ext cx="2615184" cy="4572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7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19019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In-Migration &amp; Job Growth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AFBDD1"/>
                </a:solidFill>
              </a:rPr>
              <a:t>High net migration from out-of-state buyers and sustained regional employment growth drove primary housing demand across Middle Tennessee.</a:t>
            </a:r>
            <a:endParaRPr lang="en-US" sz="1100" dirty="0"/>
          </a:p>
        </p:txBody>
      </p:sp>
      <p:sp>
        <p:nvSpPr>
          <p:cNvPr id="9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00984" y="1234440"/>
            <a:ext cx="2615184" cy="310896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00984" y="1234440"/>
            <a:ext cx="2615184" cy="4572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9584" y="14630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7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29584" y="19019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Constrained Supply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AFBDD1"/>
                </a:solidFill>
              </a:rPr>
              <a:t>Supply deficits from a decade of post-2008 underbuilding exacerbated price increases during the initial 2020–2022 surge.</a:t>
            </a:r>
            <a:endParaRPr lang="en-US" sz="1100" dirty="0"/>
          </a:p>
        </p:txBody>
      </p:sp>
      <p:sp>
        <p:nvSpPr>
          <p:cNvPr id="14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9048" y="1234440"/>
            <a:ext cx="2615184" cy="310896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9048" y="1234440"/>
            <a:ext cx="2615184" cy="4572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27648" y="14630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7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27648" y="19019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Exurban Migration Pattern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27648" y="2450592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AFBDD1"/>
                </a:solidFill>
              </a:rPr>
              <a:t>High land prices and tight inventory in Davidson County pushed demand outward into outer-ring counties: Rutherford, Williamson, Sumner, and Maury.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718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F99"/>
                </a:solidFill>
              </a:rPr>
              <a:t>Middle Tennessee Residential Market Analysis  |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 Price Appreciation, 2020–2025</a:t>
            </a:r>
            <a:endParaRPr lang="en-US" sz="2400" dirty="0"/>
          </a:p>
        </p:txBody>
      </p:sp>
      <p:sp>
        <p:nvSpPr>
          <p:cNvPr id="3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932688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mark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1207008"/>
            <a:ext cx="45720" cy="96012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Maury &amp; Rutherford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E0A566"/>
                </a:solidFill>
              </a:rPr>
              <a:t>LEADING OUTER MARKETS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91840" y="1225296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BDD1"/>
                </a:solidFill>
              </a:rPr>
              <a:t>Strongest percentage price appreciation. Entry-level price points allowed rapid percentage gains as spillover buyers sought affordability outside Davidson.</a:t>
            </a:r>
            <a:endParaRPr lang="en-US" sz="1200" dirty="0"/>
          </a:p>
        </p:txBody>
      </p:sp>
      <p:sp>
        <p:nvSpPr>
          <p:cNvPr id="8" name="mark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2340864"/>
            <a:ext cx="45720" cy="96012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32257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Williamson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6426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E0A566"/>
                </a:solidFill>
              </a:rPr>
              <a:t>CORE PREMIUM MARKET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2359152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BDD1"/>
                </a:solidFill>
              </a:rPr>
              <a:t>Highest overall dollar prices ($900k+ median), maintaining high appreciation totals on an absolute dollar basis.</a:t>
            </a:r>
            <a:endParaRPr lang="en-US" sz="1200" dirty="0"/>
          </a:p>
        </p:txBody>
      </p:sp>
      <p:sp>
        <p:nvSpPr>
          <p:cNvPr id="12" name="mark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3474720"/>
            <a:ext cx="45720" cy="96012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456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Davidson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3776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E0A566"/>
                </a:solidFill>
              </a:rPr>
              <a:t>CORE URBAN MARKET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91840" y="3493008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BDD1"/>
                </a:solidFill>
              </a:rPr>
              <a:t>Slower relative appreciation rates due to higher initial price baselines and rising inventory levels.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4718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F99"/>
                </a:solidFill>
              </a:rPr>
              <a:t>Middle Tennessee Residential Market Analysis  |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Population Growth vs. Price Appreciation</a:t>
            </a:r>
            <a:endParaRPr lang="en-US" sz="2400" dirty="0"/>
          </a:p>
        </p:txBody>
      </p:sp>
      <p:sp>
        <p:nvSpPr>
          <p:cNvPr id="3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932688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Newly built suburban homes on a residential street at dusk"/>
          <p:cNvPicPr>
            <a:picLocks noChangeAspect="1"/>
          </p:cNvPicPr>
          <p:nvPr/>
        </p:nvPicPr>
        <p:blipFill>
          <a:blip r:embed="rId3"/>
          <a:srcRect l="20892" r="20892"/>
          <a:stretch/>
        </p:blipFill>
        <p:spPr>
          <a:xfrm>
            <a:off x="5806440" y="1207008"/>
            <a:ext cx="2834640" cy="3246120"/>
          </a:xfrm>
          <a:prstGeom prst="rect">
            <a:avLst/>
          </a:prstGeom>
        </p:spPr>
      </p:pic>
      <p:sp>
        <p:nvSpPr>
          <p:cNvPr id="5" name="bullet d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1208" y="1316736"/>
            <a:ext cx="128016" cy="128016"/>
          </a:xfrm>
          <a:prstGeom prst="ellipse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1978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Direct correlation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22960" y="150876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BDD1"/>
                </a:solidFill>
              </a:rPr>
              <a:t>High percentage population growth in outer-ring counties directly drove steep home price increases.</a:t>
            </a:r>
            <a:endParaRPr lang="en-US" sz="1150" dirty="0"/>
          </a:p>
        </p:txBody>
      </p:sp>
      <p:sp>
        <p:nvSpPr>
          <p:cNvPr id="8" name="bullet d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1208" y="2414016"/>
            <a:ext cx="128016" cy="128016"/>
          </a:xfrm>
          <a:prstGeom prst="ellipse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22951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In-migration affordability effect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260604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BDD1"/>
                </a:solidFill>
              </a:rPr>
              <a:t>Out-of-state buyers relocating with higher household incomes pushed price limits upward faster than local wage growth alone could support.</a:t>
            </a:r>
            <a:endParaRPr lang="en-US" sz="1150" dirty="0"/>
          </a:p>
        </p:txBody>
      </p:sp>
      <p:sp>
        <p:nvSpPr>
          <p:cNvPr id="11" name="bullet d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1208" y="3511296"/>
            <a:ext cx="128016" cy="128016"/>
          </a:xfrm>
          <a:prstGeom prst="ellipse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22960" y="339242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Demand spillover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22960" y="370332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BDD1"/>
                </a:solidFill>
              </a:rPr>
              <a:t>As Davidson hit inventory ceilings, growth spilled south along the I-65 and I-24 corridors, accelerating appreciation in Maury and Rutherford.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02920" y="4718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F99"/>
                </a:solidFill>
              </a:rPr>
              <a:t>Middle Tennessee Residential Market Analysis  |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Permits vs. Demand</a:t>
            </a:r>
            <a:endParaRPr lang="en-US" sz="2400" dirty="0"/>
          </a:p>
        </p:txBody>
      </p:sp>
      <p:sp>
        <p:nvSpPr>
          <p:cNvPr id="3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932688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241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0A566"/>
                </a:solidFill>
              </a:rPr>
              <a:t>Permits issued per 1,000 residents, 2020–2021</a:t>
            </a:r>
            <a:endParaRPr lang="en-US" sz="1100" dirty="0"/>
          </a:p>
        </p:txBody>
      </p:sp>
      <p:graphicFrame>
        <p:nvGraphicFramePr>
          <p:cNvPr id="5" name="Permits per 1,000 residents chart" descr="Column chart of building permits per 1,000 residents: Maury 13.2, Rutherford 9.3, Sumner 8.0, Williamson 7.2"/>
          <p:cNvGraphicFramePr/>
          <p:nvPr/>
        </p:nvGraphicFramePr>
        <p:xfrm>
          <a:off x="457200" y="1371600"/>
          <a:ext cx="49377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77840" y="1207008"/>
            <a:ext cx="3063240" cy="3310128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806440" y="13716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E0A566"/>
                </a:solidFill>
              </a:rPr>
              <a:t>SUPPLY VS. DEMAND DYNAMICS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06440" y="169164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Davidson — </a:t>
            </a:r>
            <a:r>
              <a:rPr lang="en-US" sz="1000" dirty="0">
                <a:solidFill>
                  <a:srgbClr val="AFBDD1"/>
                </a:solidFill>
              </a:rPr>
              <a:t>High baseline with a modest dip — permits lagged rapidly growing multi-family and single-family demand.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06440" y="224028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Maury — </a:t>
            </a:r>
            <a:r>
              <a:rPr lang="en-US" sz="1000" dirty="0">
                <a:solidFill>
                  <a:srgbClr val="AFBDD1"/>
                </a:solidFill>
              </a:rPr>
              <a:t>Aggressive permitting attempted to catch rapid population inflows.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06440" y="278892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Rutherford — </a:t>
            </a:r>
            <a:r>
              <a:rPr lang="en-US" sz="1000" dirty="0">
                <a:solidFill>
                  <a:srgbClr val="AFBDD1"/>
                </a:solidFill>
              </a:rPr>
              <a:t>High permitting activity, yet the market remained the tightest in core submarkets.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06440" y="333756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Sumner — </a:t>
            </a:r>
            <a:r>
              <a:rPr lang="en-US" sz="1000" dirty="0">
                <a:solidFill>
                  <a:srgbClr val="AFBDD1"/>
                </a:solidFill>
              </a:rPr>
              <a:t>Moderate permitting matched suburban expansion; balanced inventory.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806440" y="388620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Williamson — </a:t>
            </a:r>
            <a:r>
              <a:rPr lang="en-US" sz="1000" dirty="0">
                <a:solidFill>
                  <a:srgbClr val="AFBDD1"/>
                </a:solidFill>
              </a:rPr>
              <a:t>Zoning and land constraints kept permits below surging buyer demand.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02920" y="4718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F99"/>
                </a:solidFill>
              </a:rPr>
              <a:t>Middle Tennessee Residential Market Analysis  |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Opportunities for Future Development</a:t>
            </a:r>
            <a:endParaRPr lang="en-US" sz="2400" dirty="0"/>
          </a:p>
        </p:txBody>
      </p:sp>
      <p:sp>
        <p:nvSpPr>
          <p:cNvPr id="3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932688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1207008"/>
            <a:ext cx="2615184" cy="315468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1207008"/>
            <a:ext cx="45720" cy="315468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0A566"/>
                </a:solidFill>
              </a:rPr>
              <a:t>TIER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High-Yield Development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7F3C"/>
                </a:solidFill>
              </a:rPr>
              <a:t>Maury &amp; Rutherford</a:t>
            </a:r>
            <a:endParaRPr lang="en-US" sz="1200" dirty="0"/>
          </a:p>
        </p:txBody>
      </p:sp>
      <p:sp>
        <p:nvSpPr>
          <p:cNvPr id="9" name="divi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2615184"/>
            <a:ext cx="2157984" cy="18288"/>
          </a:xfrm>
          <a:prstGeom prst="rect">
            <a:avLst/>
          </a:prstGeom>
          <a:solidFill>
            <a:srgbClr val="2A4066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697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FA2BD"/>
                </a:solidFill>
              </a:rPr>
              <a:t>Strengths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" y="2907792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AFBDD1"/>
                </a:solidFill>
              </a:rPr>
              <a:t>Rapid population expansion, lower entry costs, strong job corridors, sustained absorption rates.</a:t>
            </a:r>
            <a:endParaRPr lang="en-US" sz="1100" dirty="0"/>
          </a:p>
        </p:txBody>
      </p:sp>
      <p:sp>
        <p:nvSpPr>
          <p:cNvPr id="12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00984" y="1207008"/>
            <a:ext cx="2615184" cy="315468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00984" y="1207008"/>
            <a:ext cx="45720" cy="315468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29584" y="14173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0A566"/>
                </a:solidFill>
              </a:rPr>
              <a:t>TIER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9584" y="16824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High-Margin Luxury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529584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7F3C"/>
                </a:solidFill>
              </a:rPr>
              <a:t>Williamson</a:t>
            </a:r>
            <a:endParaRPr lang="en-US" sz="1200" dirty="0"/>
          </a:p>
        </p:txBody>
      </p:sp>
      <p:sp>
        <p:nvSpPr>
          <p:cNvPr id="17" name="divi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29584" y="2615184"/>
            <a:ext cx="2157984" cy="18288"/>
          </a:xfrm>
          <a:prstGeom prst="rect">
            <a:avLst/>
          </a:prstGeom>
          <a:solidFill>
            <a:srgbClr val="2A4066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529584" y="2697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FA2BD"/>
                </a:solidFill>
              </a:rPr>
              <a:t>Strengths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529584" y="2907792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AFBDD1"/>
                </a:solidFill>
              </a:rPr>
              <a:t>Lowest unemployment, highest median household incomes, strong equity cushion.</a:t>
            </a:r>
            <a:endParaRPr lang="en-US" sz="1100" dirty="0"/>
          </a:p>
        </p:txBody>
      </p:sp>
      <p:sp>
        <p:nvSpPr>
          <p:cNvPr id="20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9048" y="1207008"/>
            <a:ext cx="2615184" cy="315468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9048" y="1207008"/>
            <a:ext cx="45720" cy="3154680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27648" y="14173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0A566"/>
                </a:solidFill>
              </a:rPr>
              <a:t>TIER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27648" y="16824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Infill &amp; Multi-Family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327648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7F3C"/>
                </a:solidFill>
              </a:rPr>
              <a:t>Davidson &amp; Sumner</a:t>
            </a:r>
            <a:endParaRPr lang="en-US" sz="1200" dirty="0"/>
          </a:p>
        </p:txBody>
      </p:sp>
      <p:sp>
        <p:nvSpPr>
          <p:cNvPr id="25" name="divi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7648" y="2615184"/>
            <a:ext cx="2157984" cy="18288"/>
          </a:xfrm>
          <a:prstGeom prst="rect">
            <a:avLst/>
          </a:prstGeom>
          <a:solidFill>
            <a:srgbClr val="2A4066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27648" y="2697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FA2BD"/>
                </a:solidFill>
              </a:rPr>
              <a:t>Strengths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27648" y="2907792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AFBDD1"/>
                </a:solidFill>
              </a:rPr>
              <a:t>Large population baselines, consistent employment, steady suburban demand.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718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F99"/>
                </a:solidFill>
              </a:rPr>
              <a:t>Middle Tennessee Residential Market Analysis  |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Product Strategy by Tier</a:t>
            </a:r>
            <a:endParaRPr lang="en-US" sz="2400" dirty="0"/>
          </a:p>
        </p:txBody>
      </p:sp>
      <p:sp>
        <p:nvSpPr>
          <p:cNvPr id="3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932688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333756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E1D33"/>
                          </a:solidFill>
                        </a:rPr>
                        <a:t>Tier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7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E1D33"/>
                          </a:solidFill>
                        </a:rPr>
                        <a:t>Target Market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7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E1D33"/>
                          </a:solidFill>
                        </a:rPr>
                        <a:t>Product Opportunity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7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Tier 1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Maury &amp; Rutherford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Entry-to-mid-level single-family homes and build-to-rent developments to capture spillover workforce demand.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Tier 2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Williamson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Custom luxury, high-end infill, and master-planned upscale developments.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Tier 3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Davidson &amp; Sumner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AFBDD1"/>
                          </a:solidFill>
                        </a:rPr>
                        <a:t>Middle-density infill — townhomes and condos — plus redevelopment projects.</a:t>
                      </a:r>
                      <a:endParaRPr lang="en-US" sz="1200" dirty="0"/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18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F99"/>
                </a:solidFill>
              </a:rPr>
              <a:t>Middle Tennessee Residential Market Analysis  |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3" name="accent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932688"/>
            <a:ext cx="1005840" cy="32004"/>
          </a:xfrm>
          <a:prstGeom prst="rect">
            <a:avLst/>
          </a:prstGeom>
          <a:solidFill>
            <a:srgbClr val="C87F3C"/>
          </a:solidFill>
          <a:ln w="12700">
            <a:solidFill>
              <a:srgbClr val="C87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1234440"/>
            <a:ext cx="3977640" cy="146304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990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7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399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Demand outruns supply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7647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AFBDD1"/>
                </a:solidFill>
              </a:rPr>
              <a:t>Migration and job growth met a decade of underbuilding — the deficit still anchors pricing power across the region.</a:t>
            </a:r>
            <a:endParaRPr lang="en-US" sz="1050" dirty="0"/>
          </a:p>
        </p:txBody>
      </p:sp>
      <p:sp>
        <p:nvSpPr>
          <p:cNvPr id="8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63440" y="1234440"/>
            <a:ext cx="3977640" cy="146304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3990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7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532120" y="1399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 moved outward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32120" y="17647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AFBDD1"/>
                </a:solidFill>
              </a:rPr>
              <a:t>Davidson's price and inventory ceilings pushed buyers down the I-65 and I-24 corridors into Maury and Rutherford.</a:t>
            </a:r>
            <a:endParaRPr lang="en-US" sz="1050" dirty="0"/>
          </a:p>
        </p:txBody>
      </p:sp>
      <p:sp>
        <p:nvSpPr>
          <p:cNvPr id="12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" y="2898648"/>
            <a:ext cx="3977640" cy="146304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0632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7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Permits tell the tightness story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4290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AFBDD1"/>
                </a:solidFill>
              </a:rPr>
              <a:t>Maury permitted most aggressively; Williamson's zoning and land constraints kept supply well below demand.</a:t>
            </a:r>
            <a:endParaRPr lang="en-US" sz="1050" dirty="0"/>
          </a:p>
        </p:txBody>
      </p:sp>
      <p:sp>
        <p:nvSpPr>
          <p:cNvPr id="16" name="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63440" y="2898648"/>
            <a:ext cx="3977640" cy="1463040"/>
          </a:xfrm>
          <a:prstGeom prst="rect">
            <a:avLst/>
          </a:prstGeom>
          <a:solidFill>
            <a:srgbClr val="16294A"/>
          </a:solidFill>
          <a:ln w="12700">
            <a:solidFill>
              <a:srgbClr val="2A40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92040" y="30632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7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3212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Build where the spillover lands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32120" y="34290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AFBDD1"/>
                </a:solidFill>
              </a:rPr>
              <a:t>Attainable single-family and build-to-rent in Tier 1, luxury in Williamson, and middle-density infill in Davidson and Sumner.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4718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F99"/>
                </a:solidFill>
              </a:rPr>
              <a:t>Middle Tennessee Residential Market Analysis  | 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621</Words>
  <Application>Microsoft Office PowerPoint</Application>
  <PresentationFormat>On-screen Show (16:9)</PresentationFormat>
  <Paragraphs>96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Residential Construction in Middle Tennessee</vt:lpstr>
      <vt:lpstr>Core Drivers of Growth</vt:lpstr>
      <vt:lpstr>Home Price Appreciation, 2020–2025</vt:lpstr>
      <vt:lpstr>Population Growth vs. Price Appreciation</vt:lpstr>
      <vt:lpstr>Building Permits vs. Demand</vt:lpstr>
      <vt:lpstr>Opportunities for Future Development</vt:lpstr>
      <vt:lpstr>Recommended Product Strategy by Tier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 Segui</dc:creator>
  <cp:lastModifiedBy>Nick Segui</cp:lastModifiedBy>
  <cp:revision>2</cp:revision>
  <dcterms:created xsi:type="dcterms:W3CDTF">2026-08-18T12:51:16Z</dcterms:created>
  <dcterms:modified xsi:type="dcterms:W3CDTF">2026-08-18T13:03:40Z</dcterms:modified>
</cp:coreProperties>
</file>